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FF4757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7C3AED">
              <a:alpha val="1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06B6D4">
              <a:alpha val="1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4114800" y="3840480"/>
            <a:ext cx="1828800" cy="1828800"/>
          </a:xfrm>
          <a:prstGeom prst="ellipse">
            <a:avLst/>
          </a:prstGeom>
          <a:solidFill>
            <a:srgbClr val="7C3AED">
              <a:alpha val="8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757"/>
          </a:solidFill>
        </p:spPr>
      </p:sp>
      <p:sp>
        <p:nvSpPr>
          <p:cNvPr id="7" name="Shape 5"/>
          <p:cNvSpPr/>
          <p:nvPr/>
        </p:nvSpPr>
        <p:spPr>
          <a:xfrm>
            <a:off x="292608" y="502920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FF4757">
              <a:alpha val="75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292608" y="502920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🎭  AI-POWERED  ·  PLAYWRIGHT  ·  TYPESCRIPT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" y="9601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</a:rPr>
              <a:t>EventHub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310896" y="1783080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4757"/>
                </a:solidFill>
              </a:rPr>
              <a:t>Test Automation Framework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310896" y="2578608"/>
            <a:ext cx="4114800" cy="36576"/>
          </a:xfrm>
          <a:prstGeom prst="rect">
            <a:avLst/>
          </a:prstGeom>
          <a:solidFill>
            <a:srgbClr val="FF4757"/>
          </a:solidFill>
        </p:spPr>
      </p:sp>
      <p:sp>
        <p:nvSpPr>
          <p:cNvPr id="12" name="Text 10"/>
          <p:cNvSpPr/>
          <p:nvPr/>
        </p:nvSpPr>
        <p:spPr>
          <a:xfrm>
            <a:off x="310896" y="269748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Production-grade  ·  Self-healing locators  ·  AI-assisted  ·  CI-verified  ·  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0896" y="3090672"/>
            <a:ext cx="1993392" cy="1508760"/>
          </a:xfrm>
          <a:prstGeom prst="roundRect">
            <a:avLst>
              <a:gd name="adj" fmla="val 8485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0896" y="3090672"/>
            <a:ext cx="1993392" cy="64008"/>
          </a:xfrm>
          <a:prstGeom prst="roundRect">
            <a:avLst>
              <a:gd name="adj" fmla="val 100000"/>
            </a:avLst>
          </a:prstGeom>
          <a:solidFill>
            <a:srgbClr val="06B6D4"/>
          </a:solidFill>
        </p:spPr>
      </p:sp>
      <p:sp>
        <p:nvSpPr>
          <p:cNvPr id="15" name="Text 13"/>
          <p:cNvSpPr/>
          <p:nvPr/>
        </p:nvSpPr>
        <p:spPr>
          <a:xfrm>
            <a:off x="310896" y="3154680"/>
            <a:ext cx="199339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6B6D4"/>
                </a:solidFill>
              </a:rPr>
              <a:t>70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310896" y="3913632"/>
            <a:ext cx="19933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Test Cases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87168" y="3090672"/>
            <a:ext cx="1993392" cy="1508760"/>
          </a:xfrm>
          <a:prstGeom prst="roundRect">
            <a:avLst>
              <a:gd name="adj" fmla="val 8485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87168" y="3090672"/>
            <a:ext cx="1993392" cy="64008"/>
          </a:xfrm>
          <a:prstGeom prst="roundRect">
            <a:avLst>
              <a:gd name="adj" fmla="val 100000"/>
            </a:avLst>
          </a:prstGeom>
          <a:solidFill>
            <a:srgbClr val="10B981"/>
          </a:solidFill>
        </p:spPr>
      </p:sp>
      <p:sp>
        <p:nvSpPr>
          <p:cNvPr id="19" name="Text 17"/>
          <p:cNvSpPr/>
          <p:nvPr/>
        </p:nvSpPr>
        <p:spPr>
          <a:xfrm>
            <a:off x="2487168" y="3154680"/>
            <a:ext cx="199339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0B981"/>
                </a:solidFill>
              </a:rPr>
              <a:t>65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2487168" y="3913632"/>
            <a:ext cx="19933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Passing in CI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090672"/>
            <a:ext cx="1993392" cy="1508760"/>
          </a:xfrm>
          <a:prstGeom prst="roundRect">
            <a:avLst>
              <a:gd name="adj" fmla="val 8485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090672"/>
            <a:ext cx="1993392" cy="64008"/>
          </a:xfrm>
          <a:prstGeom prst="roundRect">
            <a:avLst>
              <a:gd name="adj" fmla="val 100000"/>
            </a:avLst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4663440" y="3154680"/>
            <a:ext cx="199339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C3AED"/>
                </a:solidFill>
              </a:rPr>
              <a:t>11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663440" y="3913632"/>
            <a:ext cx="19933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Modules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39712" y="3090672"/>
            <a:ext cx="1993392" cy="1508760"/>
          </a:xfrm>
          <a:prstGeom prst="roundRect">
            <a:avLst>
              <a:gd name="adj" fmla="val 8485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39712" y="3090672"/>
            <a:ext cx="1993392" cy="64008"/>
          </a:xfrm>
          <a:prstGeom prst="roundRect">
            <a:avLst>
              <a:gd name="adj" fmla="val 100000"/>
            </a:avLst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6839712" y="3154680"/>
            <a:ext cx="199339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9E0B"/>
                </a:solidFill>
              </a:rPr>
              <a:t>4m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6839712" y="3913632"/>
            <a:ext cx="19933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CI Runtime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" y="4846320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Ravi Tanna  |  Senior QA Engineer  |  May 2026  |  github.com/ravitanna-jeavio/2.Playwright-Training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Application Under Test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EventHub — Real-world event booking platform. Live APIs. Real data. No mocks.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754880" cy="3840480"/>
          </a:xfrm>
          <a:prstGeom prst="roundRect">
            <a:avLst>
              <a:gd name="adj" fmla="val 3333"/>
            </a:avLst>
          </a:prstGeom>
          <a:solidFill>
            <a:srgbClr val="E2E8F0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imgs2/eventhub_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69848"/>
            <a:ext cx="466344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0" y="10058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9 MODULES AUTOMATED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303520" y="1371600"/>
            <a:ext cx="17190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0" y="1371600"/>
            <a:ext cx="54864" cy="548640"/>
          </a:xfrm>
          <a:prstGeom prst="rect">
            <a:avLst/>
          </a:prstGeom>
          <a:solidFill>
            <a:srgbClr val="FF4757"/>
          </a:solidFill>
        </p:spPr>
      </p:sp>
      <p:sp>
        <p:nvSpPr>
          <p:cNvPr id="10" name="Text 7"/>
          <p:cNvSpPr/>
          <p:nvPr/>
        </p:nvSpPr>
        <p:spPr>
          <a:xfrm>
            <a:off x="5376672" y="1417320"/>
            <a:ext cx="3474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🔐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742432" y="1426464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Login / Auth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42432" y="1645920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4757"/>
                </a:solidFill>
              </a:rPr>
              <a:t>TC-001–006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178040" y="1371600"/>
            <a:ext cx="17190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78040" y="1371600"/>
            <a:ext cx="54864" cy="5486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5" name="Text 12"/>
          <p:cNvSpPr/>
          <p:nvPr/>
        </p:nvSpPr>
        <p:spPr>
          <a:xfrm>
            <a:off x="7251192" y="1417320"/>
            <a:ext cx="3474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📋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616952" y="1426464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Event Listing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616952" y="1645920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</a:rPr>
              <a:t>TC-007–012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303520" y="2029968"/>
            <a:ext cx="17190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03520" y="2029968"/>
            <a:ext cx="54864" cy="54864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0" name="Text 17"/>
          <p:cNvSpPr/>
          <p:nvPr/>
        </p:nvSpPr>
        <p:spPr>
          <a:xfrm>
            <a:off x="5376672" y="2075688"/>
            <a:ext cx="3474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🎟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742432" y="2084832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Event Detail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742432" y="2304288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</a:rPr>
              <a:t>TC-013–018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178040" y="2029968"/>
            <a:ext cx="17190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78040" y="2029968"/>
            <a:ext cx="54864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5" name="Text 22"/>
          <p:cNvSpPr/>
          <p:nvPr/>
        </p:nvSpPr>
        <p:spPr>
          <a:xfrm>
            <a:off x="7251192" y="2075688"/>
            <a:ext cx="3474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616952" y="2084832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Event Booking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616952" y="2304288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</a:rPr>
              <a:t>TC-019–024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303520" y="2688336"/>
            <a:ext cx="17190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303520" y="2688336"/>
            <a:ext cx="54864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0" name="Text 27"/>
          <p:cNvSpPr/>
          <p:nvPr/>
        </p:nvSpPr>
        <p:spPr>
          <a:xfrm>
            <a:off x="5376672" y="2734056"/>
            <a:ext cx="3474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📂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742432" y="2743200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My Bookings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742432" y="2962656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</a:rPr>
              <a:t>TC-025–030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78040" y="2688336"/>
            <a:ext cx="17190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178040" y="2688336"/>
            <a:ext cx="54864" cy="54864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35" name="Text 32"/>
          <p:cNvSpPr/>
          <p:nvPr/>
        </p:nvSpPr>
        <p:spPr>
          <a:xfrm>
            <a:off x="7251192" y="2734056"/>
            <a:ext cx="3474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⚙️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616952" y="2743200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Admin Events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616952" y="2962656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3F5E"/>
                </a:solidFill>
              </a:rPr>
              <a:t>TC-031–038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5303520" y="3346704"/>
            <a:ext cx="17190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5303520" y="3346704"/>
            <a:ext cx="54864" cy="5486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0" name="Text 37"/>
          <p:cNvSpPr/>
          <p:nvPr/>
        </p:nvSpPr>
        <p:spPr>
          <a:xfrm>
            <a:off x="5376672" y="3392424"/>
            <a:ext cx="3474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🗂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5742432" y="3401568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Admin Bookings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742432" y="3621024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</a:rPr>
              <a:t>TC-039–042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7178040" y="3346704"/>
            <a:ext cx="17190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178040" y="3346704"/>
            <a:ext cx="54864" cy="54864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5" name="Text 42"/>
          <p:cNvSpPr/>
          <p:nvPr/>
        </p:nvSpPr>
        <p:spPr>
          <a:xfrm>
            <a:off x="7251192" y="3392424"/>
            <a:ext cx="3474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🔌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7616952" y="3401568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REST API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616952" y="3621024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</a:rPr>
              <a:t>TC-043–066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5303520" y="4005072"/>
            <a:ext cx="17190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303520" y="4005072"/>
            <a:ext cx="54864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50" name="Text 47"/>
          <p:cNvSpPr/>
          <p:nvPr/>
        </p:nvSpPr>
        <p:spPr>
          <a:xfrm>
            <a:off x="5376672" y="4050792"/>
            <a:ext cx="3474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🔄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5742432" y="4059936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E2E Flows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742432" y="4279392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</a:rPr>
              <a:t>TC-067–070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5303520" y="4617720"/>
            <a:ext cx="3547872" cy="384048"/>
          </a:xfrm>
          <a:prstGeom prst="roundRect">
            <a:avLst>
              <a:gd name="adj" fmla="val 19048"/>
            </a:avLst>
          </a:prstGeom>
          <a:solidFill>
            <a:srgbClr val="06B6D4">
              <a:alpha val="88000"/>
            </a:srgbClr>
          </a:solidFill>
        </p:spPr>
      </p:sp>
      <p:sp>
        <p:nvSpPr>
          <p:cNvPr id="54" name="Text 51"/>
          <p:cNvSpPr/>
          <p:nvPr/>
        </p:nvSpPr>
        <p:spPr>
          <a:xfrm>
            <a:off x="5303520" y="4636008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🔌  Live REST APIs  ·  Swagger Docs  ·  Admin Access  ·  Sandbox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Framework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Data flows left to right through 3 layers — each with a single responsibility.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1440" y="1005840"/>
            <a:ext cx="713232" cy="868680"/>
          </a:xfrm>
          <a:prstGeom prst="roundRect">
            <a:avLst>
              <a:gd name="adj" fmla="val 10256"/>
            </a:avLst>
          </a:prstGeom>
          <a:solidFill>
            <a:srgbClr val="F59E0B">
              <a:alpha val="80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91440" y="1005840"/>
            <a:ext cx="7132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</a:rPr>
              <a:t>LAYER 1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</a:rPr>
              <a:t>DATA IN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1440" y="2331720"/>
            <a:ext cx="713232" cy="868680"/>
          </a:xfrm>
          <a:prstGeom prst="roundRect">
            <a:avLst>
              <a:gd name="adj" fmla="val 10256"/>
            </a:avLst>
          </a:prstGeom>
          <a:solidFill>
            <a:srgbClr val="7C3AED">
              <a:alpha val="8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91440" y="2331720"/>
            <a:ext cx="7132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</a:rPr>
              <a:t>LAYER 2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</a:rPr>
              <a:t>CORE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1440" y="3749040"/>
            <a:ext cx="713232" cy="868680"/>
          </a:xfrm>
          <a:prstGeom prst="roundRect">
            <a:avLst>
              <a:gd name="adj" fmla="val 10256"/>
            </a:avLst>
          </a:prstGeom>
          <a:solidFill>
            <a:srgbClr val="10B981">
              <a:alpha val="8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91440" y="3749040"/>
            <a:ext cx="7132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</a:rPr>
              <a:t>LAYER 3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</a:rPr>
              <a:t>OUTPUT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96112" y="987552"/>
            <a:ext cx="1389888" cy="868680"/>
          </a:xfrm>
          <a:prstGeom prst="roundRect">
            <a:avLst>
              <a:gd name="adj" fmla="val 14737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987552"/>
            <a:ext cx="1389888" cy="64008"/>
          </a:xfrm>
          <a:prstGeom prst="roundRect">
            <a:avLst>
              <a:gd name="adj" fmla="val 100000"/>
            </a:avLst>
          </a:prstGeom>
          <a:solidFill>
            <a:srgbClr val="F59E0B"/>
          </a:solidFill>
        </p:spPr>
      </p:sp>
      <p:sp>
        <p:nvSpPr>
          <p:cNvPr id="13" name="Text 11"/>
          <p:cNvSpPr/>
          <p:nvPr/>
        </p:nvSpPr>
        <p:spPr>
          <a:xfrm>
            <a:off x="950976" y="1060704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Excel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test-cases-v4.xlsx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50976" y="14813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</a:rPr>
              <a:t>70 TCs · 9 sheets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463040" y="1856232"/>
            <a:ext cx="256032" cy="347472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40864" y="987552"/>
            <a:ext cx="1389888" cy="868680"/>
          </a:xfrm>
          <a:prstGeom prst="roundRect">
            <a:avLst>
              <a:gd name="adj" fmla="val 14737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40864" y="987552"/>
            <a:ext cx="1389888" cy="64008"/>
          </a:xfrm>
          <a:prstGeom prst="roundRect">
            <a:avLst>
              <a:gd name="adj" fmla="val 100000"/>
            </a:avLst>
          </a:prstGeom>
          <a:solidFill>
            <a:srgbClr val="06B6D4"/>
          </a:solidFill>
        </p:spPr>
      </p:sp>
      <p:sp>
        <p:nvSpPr>
          <p:cNvPr id="18" name="Text 16"/>
          <p:cNvSpPr/>
          <p:nvPr/>
        </p:nvSpPr>
        <p:spPr>
          <a:xfrm>
            <a:off x="2395728" y="1060704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Swagger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swagger.json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95728" y="14813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B6D4"/>
                </a:solidFill>
              </a:rPr>
              <a:t>Auto-gen API types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907792" y="1856232"/>
            <a:ext cx="256032" cy="347472"/>
          </a:xfrm>
          <a:prstGeom prst="downArrow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85616" y="987552"/>
            <a:ext cx="1389888" cy="868680"/>
          </a:xfrm>
          <a:prstGeom prst="roundRect">
            <a:avLst>
              <a:gd name="adj" fmla="val 14737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85616" y="987552"/>
            <a:ext cx="1389888" cy="64008"/>
          </a:xfrm>
          <a:prstGeom prst="roundRect">
            <a:avLst>
              <a:gd name="adj" fmla="val 100000"/>
            </a:avLst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3840480" y="1060704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.env File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Secrets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0" y="14813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C3AED"/>
                </a:solidFill>
              </a:rPr>
              <a:t>Credentials · URLs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352544" y="1856232"/>
            <a:ext cx="256032" cy="347472"/>
          </a:xfrm>
          <a:prstGeom prst="downArrow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0368" y="987552"/>
            <a:ext cx="1389888" cy="868680"/>
          </a:xfrm>
          <a:prstGeom prst="roundRect">
            <a:avLst>
              <a:gd name="adj" fmla="val 14737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30368" y="987552"/>
            <a:ext cx="1389888" cy="64008"/>
          </a:xfrm>
          <a:prstGeom prst="roundRect">
            <a:avLst>
              <a:gd name="adj" fmla="val 100000"/>
            </a:avLst>
          </a:prstGeom>
          <a:solidFill>
            <a:srgbClr val="F43F5E"/>
          </a:solidFill>
        </p:spPr>
      </p:sp>
      <p:sp>
        <p:nvSpPr>
          <p:cNvPr id="28" name="Text 26"/>
          <p:cNvSpPr/>
          <p:nvPr/>
        </p:nvSpPr>
        <p:spPr>
          <a:xfrm>
            <a:off x="5285232" y="1060704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Playwright MCP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Browser Control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85232" y="14813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3F5E"/>
                </a:solidFill>
              </a:rPr>
              <a:t>Live UI inspection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797296" y="1856232"/>
            <a:ext cx="256032" cy="347472"/>
          </a:xfrm>
          <a:prstGeom prst="downArrow">
            <a:avLst/>
          </a:prstGeom>
          <a:solidFill>
            <a:srgbClr val="F43F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0" y="987552"/>
            <a:ext cx="1389888" cy="868680"/>
          </a:xfrm>
          <a:prstGeom prst="roundRect">
            <a:avLst>
              <a:gd name="adj" fmla="val 14737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75120" y="987552"/>
            <a:ext cx="1389888" cy="64008"/>
          </a:xfrm>
          <a:prstGeom prst="roundRect">
            <a:avLst>
              <a:gd name="adj" fmla="val 100000"/>
            </a:avLst>
          </a:prstGeom>
          <a:solidFill>
            <a:srgbClr val="FF4757"/>
          </a:solidFill>
        </p:spPr>
      </p:sp>
      <p:sp>
        <p:nvSpPr>
          <p:cNvPr id="33" name="Text 31"/>
          <p:cNvSpPr/>
          <p:nvPr/>
        </p:nvSpPr>
        <p:spPr>
          <a:xfrm>
            <a:off x="6729984" y="1060704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Auth State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user.json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29984" y="14813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4757"/>
                </a:solidFill>
              </a:rPr>
              <a:t>Global login setup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242048" y="1856232"/>
            <a:ext cx="256032" cy="347472"/>
          </a:xfrm>
          <a:prstGeom prst="downArrow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" y="233172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96112" y="2331720"/>
            <a:ext cx="1874520" cy="64008"/>
          </a:xfrm>
          <a:prstGeom prst="roundRect">
            <a:avLst>
              <a:gd name="adj" fmla="val 100000"/>
            </a:avLst>
          </a:prstGeom>
          <a:solidFill>
            <a:srgbClr val="F59E0B"/>
          </a:solidFill>
        </p:spPr>
      </p:sp>
      <p:sp>
        <p:nvSpPr>
          <p:cNvPr id="38" name="Text 36"/>
          <p:cNvSpPr/>
          <p:nvPr/>
        </p:nvSpPr>
        <p:spPr>
          <a:xfrm>
            <a:off x="969264" y="2404872"/>
            <a:ext cx="172821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utils/env.ts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constants.ts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69264" y="2834640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</a:rPr>
              <a:t>Safe env · No magic strings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779776" y="2688336"/>
            <a:ext cx="411480" cy="256032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05356" y="3291840"/>
            <a:ext cx="256032" cy="347472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25496" y="233172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825496" y="2331720"/>
            <a:ext cx="1874520" cy="64008"/>
          </a:xfrm>
          <a:prstGeom prst="roundRect">
            <a:avLst>
              <a:gd name="adj" fmla="val 100000"/>
            </a:avLst>
          </a:prstGeom>
          <a:solidFill>
            <a:srgbClr val="F43F5E"/>
          </a:solidFill>
        </p:spPr>
      </p:sp>
      <p:sp>
        <p:nvSpPr>
          <p:cNvPr id="44" name="Text 42"/>
          <p:cNvSpPr/>
          <p:nvPr/>
        </p:nvSpPr>
        <p:spPr>
          <a:xfrm>
            <a:off x="2898648" y="2404872"/>
            <a:ext cx="172821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excel-reader.ts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+ Zod Validation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898648" y="2834640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3F5E"/>
                </a:solidFill>
              </a:rPr>
              <a:t>Parse · Validate · Type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09160" y="2688336"/>
            <a:ext cx="411480" cy="256032"/>
          </a:xfrm>
          <a:prstGeom prst="rightArrow">
            <a:avLst/>
          </a:prstGeom>
          <a:solidFill>
            <a:srgbClr val="F43F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34740" y="3291840"/>
            <a:ext cx="256032" cy="347472"/>
          </a:xfrm>
          <a:prstGeom prst="downArrow">
            <a:avLst/>
          </a:prstGeom>
          <a:solidFill>
            <a:srgbClr val="F43F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233172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2331720"/>
            <a:ext cx="1874520" cy="64008"/>
          </a:xfrm>
          <a:prstGeom prst="roundRect">
            <a:avLst>
              <a:gd name="adj" fmla="val 100000"/>
            </a:avLst>
          </a:prstGeom>
          <a:solidFill>
            <a:srgbClr val="FF4757"/>
          </a:solidFill>
        </p:spPr>
      </p:sp>
      <p:sp>
        <p:nvSpPr>
          <p:cNvPr id="50" name="Text 48"/>
          <p:cNvSpPr/>
          <p:nvPr/>
        </p:nvSpPr>
        <p:spPr>
          <a:xfrm>
            <a:off x="4828032" y="2404872"/>
            <a:ext cx="172821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SelfHealingLocator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utils/self-healing-locator.ts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28032" y="2834640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4757"/>
                </a:solidFill>
              </a:rPr>
              <a:t>Priority fallback · Auto-warn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638544" y="2688336"/>
            <a:ext cx="411480" cy="256032"/>
          </a:xfrm>
          <a:prstGeom prst="rightArrow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64124" y="3291840"/>
            <a:ext cx="256032" cy="347472"/>
          </a:xfrm>
          <a:prstGeom prst="downArrow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84264" y="233172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684264" y="2331720"/>
            <a:ext cx="1874520" cy="64008"/>
          </a:xfrm>
          <a:prstGeom prst="roundRect">
            <a:avLst>
              <a:gd name="adj" fmla="val 100000"/>
            </a:avLst>
          </a:prstGeom>
          <a:solidFill>
            <a:srgbClr val="7C3AED"/>
          </a:solidFill>
        </p:spPr>
      </p:sp>
      <p:sp>
        <p:nvSpPr>
          <p:cNvPr id="56" name="Text 54"/>
          <p:cNvSpPr/>
          <p:nvPr/>
        </p:nvSpPr>
        <p:spPr>
          <a:xfrm>
            <a:off x="6757416" y="2404872"/>
            <a:ext cx="172821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Page Objects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pages/*.ts (7 classes)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757416" y="2834640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C3AED"/>
                </a:solidFill>
              </a:rPr>
              <a:t>All UI abstracted · POM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493508" y="3291840"/>
            <a:ext cx="256032" cy="347472"/>
          </a:xfrm>
          <a:prstGeom prst="downArrow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6112" y="3639312"/>
            <a:ext cx="1874520" cy="896112"/>
          </a:xfrm>
          <a:prstGeom prst="roundRect">
            <a:avLst>
              <a:gd name="adj" fmla="val 12245"/>
            </a:avLst>
          </a:prstGeom>
          <a:solidFill>
            <a:srgbClr val="10B981">
              <a:alpha val="82000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896112" y="3639312"/>
            <a:ext cx="18745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61" name="Text 59"/>
          <p:cNvSpPr/>
          <p:nvPr/>
        </p:nvSpPr>
        <p:spPr>
          <a:xfrm>
            <a:off x="969264" y="3703320"/>
            <a:ext cx="17282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Test Scripts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69264" y="4087368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tests/ui/ · api/ · e2e/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825496" y="3639312"/>
            <a:ext cx="1874520" cy="896112"/>
          </a:xfrm>
          <a:prstGeom prst="roundRect">
            <a:avLst>
              <a:gd name="adj" fmla="val 12245"/>
            </a:avLst>
          </a:prstGeom>
          <a:solidFill>
            <a:srgbClr val="06B6D4">
              <a:alpha val="82000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2825496" y="3639312"/>
            <a:ext cx="1874520" cy="4572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65" name="Text 63"/>
          <p:cNvSpPr/>
          <p:nvPr/>
        </p:nvSpPr>
        <p:spPr>
          <a:xfrm>
            <a:off x="2898648" y="3703320"/>
            <a:ext cx="17282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GitHub Actions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898648" y="4087368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CI Pipeline · Scheduled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754880" y="3639312"/>
            <a:ext cx="1874520" cy="896112"/>
          </a:xfrm>
          <a:prstGeom prst="roundRect">
            <a:avLst>
              <a:gd name="adj" fmla="val 12245"/>
            </a:avLst>
          </a:prstGeom>
          <a:solidFill>
            <a:srgbClr val="F59E0B">
              <a:alpha val="82000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4754880" y="3639312"/>
            <a:ext cx="187452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69" name="Text 67"/>
          <p:cNvSpPr/>
          <p:nvPr/>
        </p:nvSpPr>
        <p:spPr>
          <a:xfrm>
            <a:off x="4828032" y="3703320"/>
            <a:ext cx="17282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HTML Report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+ JSON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828032" y="4087368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Artifacts · 30 day retention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684264" y="3639312"/>
            <a:ext cx="1874520" cy="896112"/>
          </a:xfrm>
          <a:prstGeom prst="roundRect">
            <a:avLst>
              <a:gd name="adj" fmla="val 12245"/>
            </a:avLst>
          </a:prstGeom>
          <a:solidFill>
            <a:srgbClr val="F43F5E">
              <a:alpha val="82000"/>
            </a:srgbClr>
          </a:solidFill>
        </p:spPr>
      </p:sp>
      <p:sp>
        <p:nvSpPr>
          <p:cNvPr id="72" name="Shape 70"/>
          <p:cNvSpPr/>
          <p:nvPr/>
        </p:nvSpPr>
        <p:spPr>
          <a:xfrm>
            <a:off x="6684264" y="3639312"/>
            <a:ext cx="1874520" cy="4572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73" name="Text 71"/>
          <p:cNvSpPr/>
          <p:nvPr/>
        </p:nvSpPr>
        <p:spPr>
          <a:xfrm>
            <a:off x="6757416" y="3703320"/>
            <a:ext cx="17282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Slack / Email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757416" y="4087368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Failure notifications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96112" y="470916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📐  Real arrows show actual data flow between framework components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757"/>
          </a:solidFill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Journey of One Test Case: TC-019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Traced from Excel row through every framework layer to CI green — with real self-healing in action.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1353312" cy="35204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05840"/>
            <a:ext cx="1353312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7" name="Shape 5"/>
          <p:cNvSpPr/>
          <p:nvPr/>
        </p:nvSpPr>
        <p:spPr>
          <a:xfrm>
            <a:off x="685800" y="1060704"/>
            <a:ext cx="384048" cy="38404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685800" y="106984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" y="1508760"/>
            <a:ext cx="13533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" y="199339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Excel Row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5176" y="2468880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TestID: TC-019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5176" y="2798064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Module: EventBooking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5176" y="3127248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Priority: 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5176" y="3456432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Enabled: TRUE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5176" y="3785616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InputData: name,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5176" y="4114800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email, phone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563624" y="2578608"/>
            <a:ext cx="411480" cy="256032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27632" y="1005840"/>
            <a:ext cx="1353312" cy="35204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627632" y="1005840"/>
            <a:ext cx="1353312" cy="54864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20" name="Shape 18"/>
          <p:cNvSpPr/>
          <p:nvPr/>
        </p:nvSpPr>
        <p:spPr>
          <a:xfrm>
            <a:off x="2112264" y="1060704"/>
            <a:ext cx="384048" cy="384048"/>
          </a:xfrm>
          <a:prstGeom prst="ellipse">
            <a:avLst/>
          </a:prstGeom>
          <a:solidFill>
            <a:srgbClr val="F43F5E"/>
          </a:solidFill>
        </p:spPr>
      </p:sp>
      <p:sp>
        <p:nvSpPr>
          <p:cNvPr id="21" name="Text 19"/>
          <p:cNvSpPr/>
          <p:nvPr/>
        </p:nvSpPr>
        <p:spPr>
          <a:xfrm>
            <a:off x="2112264" y="106984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27632" y="1508760"/>
            <a:ext cx="13533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73352" y="199339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</a:rPr>
              <a:t>excel-reader.ts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691640" y="2468880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parseExcelTestCases()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91640" y="2798064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reads TC-019 row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91640" y="3127248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Zod validates schema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91640" y="3456432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Returns typed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691640" y="3785616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TestCase object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691640" y="4114800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ready for use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990088" y="2578608"/>
            <a:ext cx="411480" cy="256032"/>
          </a:xfrm>
          <a:prstGeom prst="rightArrow">
            <a:avLst/>
          </a:prstGeom>
          <a:solidFill>
            <a:srgbClr val="F43F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54096" y="1005840"/>
            <a:ext cx="1353312" cy="35204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54096" y="1005840"/>
            <a:ext cx="1353312" cy="54864"/>
          </a:xfrm>
          <a:prstGeom prst="rect">
            <a:avLst/>
          </a:prstGeom>
          <a:solidFill>
            <a:srgbClr val="FF4757"/>
          </a:solidFill>
        </p:spPr>
      </p:sp>
      <p:sp>
        <p:nvSpPr>
          <p:cNvPr id="33" name="Shape 31"/>
          <p:cNvSpPr/>
          <p:nvPr/>
        </p:nvSpPr>
        <p:spPr>
          <a:xfrm>
            <a:off x="3538728" y="1060704"/>
            <a:ext cx="384048" cy="384048"/>
          </a:xfrm>
          <a:prstGeom prst="ellipse">
            <a:avLst/>
          </a:prstGeom>
          <a:solidFill>
            <a:srgbClr val="FF4757"/>
          </a:solidFill>
        </p:spPr>
      </p:sp>
      <p:sp>
        <p:nvSpPr>
          <p:cNvPr id="34" name="Text 32"/>
          <p:cNvSpPr/>
          <p:nvPr/>
        </p:nvSpPr>
        <p:spPr>
          <a:xfrm>
            <a:off x="3538728" y="106984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054096" y="1508760"/>
            <a:ext cx="13533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099816" y="199339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757"/>
                </a:solidFill>
              </a:rPr>
              <a:t>SelfHealing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4757"/>
                </a:solidFill>
              </a:rPr>
              <a:t>Locator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118104" y="2468880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Tries getByRole()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118104" y="2798064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Priority 1 → ✓ found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118104" y="3127248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fillEmail(email)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118104" y="3456432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fillPassword(pw)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118104" y="3785616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Falls back if needed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118104" y="4114800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Warns, never fails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16552" y="2578608"/>
            <a:ext cx="411480" cy="256032"/>
          </a:xfrm>
          <a:prstGeom prst="rightArrow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0560" y="1005840"/>
            <a:ext cx="1353312" cy="35204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80560" y="1005840"/>
            <a:ext cx="1353312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6" name="Shape 44"/>
          <p:cNvSpPr/>
          <p:nvPr/>
        </p:nvSpPr>
        <p:spPr>
          <a:xfrm>
            <a:off x="4965192" y="1060704"/>
            <a:ext cx="384048" cy="384048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7" name="Text 45"/>
          <p:cNvSpPr/>
          <p:nvPr/>
        </p:nvSpPr>
        <p:spPr>
          <a:xfrm>
            <a:off x="4965192" y="106984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480560" y="1508760"/>
            <a:ext cx="13533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4526280" y="199339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POM Class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44568" y="2468880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EventBookingPage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44568" y="2798064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fillBookingForm()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44568" y="3127248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selectSeats(1)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44568" y="3456432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clickBook()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44568" y="3785616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assertBooking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544568" y="4114800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Confirmed()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843016" y="2578608"/>
            <a:ext cx="411480" cy="256032"/>
          </a:xfrm>
          <a:prstGeom prst="rightArrow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07024" y="1005840"/>
            <a:ext cx="1353312" cy="35204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907024" y="1005840"/>
            <a:ext cx="1353312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59" name="Shape 57"/>
          <p:cNvSpPr/>
          <p:nvPr/>
        </p:nvSpPr>
        <p:spPr>
          <a:xfrm>
            <a:off x="6391656" y="1060704"/>
            <a:ext cx="384048" cy="384048"/>
          </a:xfrm>
          <a:prstGeom prst="ellipse">
            <a:avLst/>
          </a:prstGeom>
          <a:solidFill>
            <a:srgbClr val="06B6D4"/>
          </a:solidFill>
        </p:spPr>
      </p:sp>
      <p:sp>
        <p:nvSpPr>
          <p:cNvPr id="60" name="Text 58"/>
          <p:cNvSpPr/>
          <p:nvPr/>
        </p:nvSpPr>
        <p:spPr>
          <a:xfrm>
            <a:off x="6391656" y="106984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907024" y="1508760"/>
            <a:ext cx="13533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5952744" y="199339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</a:rPr>
              <a:t>Test Script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971032" y="2468880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[TC-019] should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971032" y="2798064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confirm booking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971032" y="3127248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@smoke tag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971032" y="3456432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AAA structure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971032" y="3785616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Screenshot on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971032" y="4114800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final assertion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269480" y="2578608"/>
            <a:ext cx="411480" cy="256032"/>
          </a:xfrm>
          <a:prstGeom prst="rightArrow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333488" y="1005840"/>
            <a:ext cx="1353312" cy="35204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7333488" y="1005840"/>
            <a:ext cx="135331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2" name="Shape 70"/>
          <p:cNvSpPr/>
          <p:nvPr/>
        </p:nvSpPr>
        <p:spPr>
          <a:xfrm>
            <a:off x="7818120" y="1060704"/>
            <a:ext cx="384048" cy="384048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3" name="Text 71"/>
          <p:cNvSpPr/>
          <p:nvPr/>
        </p:nvSpPr>
        <p:spPr>
          <a:xfrm>
            <a:off x="7818120" y="106984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7333488" y="1508760"/>
            <a:ext cx="13533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7379208" y="199339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CI: Green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397496" y="2468880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GitHub Actions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397496" y="2798064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runs in 3.7s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397496" y="3127248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HTML: PASSED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397496" y="3456432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JSON: recorded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397496" y="3785616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No Email if all pass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397496" y="4114800"/>
            <a:ext cx="12252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(no failures)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01168" y="4645152"/>
            <a:ext cx="8741664" cy="347472"/>
          </a:xfrm>
          <a:prstGeom prst="roundRect">
            <a:avLst>
              <a:gd name="adj" fmla="val 21053"/>
            </a:avLst>
          </a:prstGeom>
          <a:solidFill>
            <a:srgbClr val="FF4757">
              <a:alpha val="12000"/>
            </a:srgbClr>
          </a:solidFill>
        </p:spPr>
      </p:sp>
      <p:sp>
        <p:nvSpPr>
          <p:cNvPr id="83" name="Shape 81"/>
          <p:cNvSpPr/>
          <p:nvPr/>
        </p:nvSpPr>
        <p:spPr>
          <a:xfrm>
            <a:off x="201168" y="4645152"/>
            <a:ext cx="8741664" cy="45720"/>
          </a:xfrm>
          <a:prstGeom prst="rect">
            <a:avLst/>
          </a:prstGeom>
          <a:solidFill>
            <a:srgbClr val="FF4757"/>
          </a:solidFill>
        </p:spPr>
      </p:sp>
      <p:sp>
        <p:nvSpPr>
          <p:cNvPr id="84" name="Text 82"/>
          <p:cNvSpPr/>
          <p:nvPr/>
        </p:nvSpPr>
        <p:spPr>
          <a:xfrm>
            <a:off x="292608" y="4690872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</a:rPr>
              <a:t>⚡ Real CI log: [SelfHealingLocator] Falling back to strategy "button text cancel" — test continued and PASSED without any manual fix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757"/>
          </a:solidFill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Self-Healing Locators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The standout feature — locators try multiple strategies so tests survive UI changes automatically.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14800" cy="1664208"/>
          </a:xfrm>
          <a:prstGeom prst="roundRect">
            <a:avLst>
              <a:gd name="adj" fmla="val 6593"/>
            </a:avLst>
          </a:prstGeom>
          <a:solidFill>
            <a:srgbClr val="1F0A0E"/>
          </a:solidFill>
        </p:spPr>
      </p:sp>
      <p:sp>
        <p:nvSpPr>
          <p:cNvPr id="6" name="Shape 4"/>
          <p:cNvSpPr/>
          <p:nvPr/>
        </p:nvSpPr>
        <p:spPr>
          <a:xfrm>
            <a:off x="274320" y="1024128"/>
            <a:ext cx="411480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❌  WITHOUT Self-Healing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Dev renames label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18488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→ test immediately fails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819656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Engineer digs through CI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20824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Finds broken selector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22199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Manually fixes → re-pushes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42316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Time lost: 30-60 minutes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024128"/>
            <a:ext cx="4114800" cy="1664208"/>
          </a:xfrm>
          <a:prstGeom prst="roundRect">
            <a:avLst>
              <a:gd name="adj" fmla="val 6593"/>
            </a:avLst>
          </a:prstGeom>
          <a:solidFill>
            <a:srgbClr val="071A10"/>
          </a:solidFill>
        </p:spPr>
      </p:sp>
      <p:sp>
        <p:nvSpPr>
          <p:cNvPr id="15" name="Shape 13"/>
          <p:cNvSpPr/>
          <p:nvPr/>
        </p:nvSpPr>
        <p:spPr>
          <a:xfrm>
            <a:off x="4754880" y="1024128"/>
            <a:ext cx="411480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4892040" y="10972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 WITH Self-Healing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41732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Dev renames label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1618488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→ Priority 1 fails silently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1819656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SelfHealingLocator tries P2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2020824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getByLabel finds it → fills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22199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Logs: '[SelfHealing] Falling back'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242316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Time lost: 0 minutes 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2834640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4757"/>
                </a:solidFill>
              </a:rPr>
              <a:t>PRIORITY FALLBACK CHAIN  (emailInput · LoginPage.ts)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154680"/>
            <a:ext cx="1572768" cy="1298448"/>
          </a:xfrm>
          <a:prstGeom prst="roundRect">
            <a:avLst>
              <a:gd name="adj" fmla="val 7042"/>
            </a:avLst>
          </a:prstGeom>
          <a:solidFill>
            <a:srgbClr val="071A10"/>
          </a:solidFill>
        </p:spPr>
      </p:sp>
      <p:sp>
        <p:nvSpPr>
          <p:cNvPr id="25" name="Shape 23"/>
          <p:cNvSpPr/>
          <p:nvPr/>
        </p:nvSpPr>
        <p:spPr>
          <a:xfrm>
            <a:off x="274320" y="3154680"/>
            <a:ext cx="1572768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6" name="Shape 24"/>
          <p:cNvSpPr/>
          <p:nvPr/>
        </p:nvSpPr>
        <p:spPr>
          <a:xfrm>
            <a:off x="859536" y="3218688"/>
            <a:ext cx="402336" cy="402336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7" name="Text 25"/>
          <p:cNvSpPr/>
          <p:nvPr/>
        </p:nvSpPr>
        <p:spPr>
          <a:xfrm>
            <a:off x="859536" y="3227832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" y="3675888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</a:rPr>
              <a:t>getByRole()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9184" y="41148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Accessibility first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856232" y="3584448"/>
            <a:ext cx="411480" cy="256032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93392" y="3154680"/>
            <a:ext cx="1572768" cy="1298448"/>
          </a:xfrm>
          <a:prstGeom prst="roundRect">
            <a:avLst>
              <a:gd name="adj" fmla="val 7042"/>
            </a:avLst>
          </a:prstGeom>
          <a:solidFill>
            <a:srgbClr val="071820"/>
          </a:solidFill>
        </p:spPr>
      </p:sp>
      <p:sp>
        <p:nvSpPr>
          <p:cNvPr id="32" name="Shape 30"/>
          <p:cNvSpPr/>
          <p:nvPr/>
        </p:nvSpPr>
        <p:spPr>
          <a:xfrm>
            <a:off x="1993392" y="3154680"/>
            <a:ext cx="1572768" cy="4572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3" name="Shape 31"/>
          <p:cNvSpPr/>
          <p:nvPr/>
        </p:nvSpPr>
        <p:spPr>
          <a:xfrm>
            <a:off x="2578608" y="3218688"/>
            <a:ext cx="402336" cy="402336"/>
          </a:xfrm>
          <a:prstGeom prst="ellipse">
            <a:avLst/>
          </a:prstGeom>
          <a:solidFill>
            <a:srgbClr val="06B6D4"/>
          </a:solidFill>
        </p:spPr>
      </p:sp>
      <p:sp>
        <p:nvSpPr>
          <p:cNvPr id="34" name="Text 32"/>
          <p:cNvSpPr/>
          <p:nvPr/>
        </p:nvSpPr>
        <p:spPr>
          <a:xfrm>
            <a:off x="2578608" y="3227832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048256" y="3675888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</a:rPr>
              <a:t>getByLabel()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048256" y="41148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Form labels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575304" y="3584448"/>
            <a:ext cx="411480" cy="256032"/>
          </a:xfrm>
          <a:prstGeom prst="rightArrow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12464" y="3154680"/>
            <a:ext cx="1572768" cy="1298448"/>
          </a:xfrm>
          <a:prstGeom prst="roundRect">
            <a:avLst>
              <a:gd name="adj" fmla="val 7042"/>
            </a:avLst>
          </a:prstGeom>
          <a:solidFill>
            <a:srgbClr val="1A1208"/>
          </a:solidFill>
        </p:spPr>
      </p:sp>
      <p:sp>
        <p:nvSpPr>
          <p:cNvPr id="39" name="Shape 37"/>
          <p:cNvSpPr/>
          <p:nvPr/>
        </p:nvSpPr>
        <p:spPr>
          <a:xfrm>
            <a:off x="3712464" y="3154680"/>
            <a:ext cx="1572768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0" name="Shape 38"/>
          <p:cNvSpPr/>
          <p:nvPr/>
        </p:nvSpPr>
        <p:spPr>
          <a:xfrm>
            <a:off x="4297680" y="3218688"/>
            <a:ext cx="402336" cy="40233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1" name="Text 39"/>
          <p:cNvSpPr/>
          <p:nvPr/>
        </p:nvSpPr>
        <p:spPr>
          <a:xfrm>
            <a:off x="4297680" y="3227832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767328" y="3675888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getByPlaceholder()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767328" y="41148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No-label inputs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94376" y="3584448"/>
            <a:ext cx="411480" cy="256032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31536" y="3154680"/>
            <a:ext cx="1572768" cy="1298448"/>
          </a:xfrm>
          <a:prstGeom prst="roundRect">
            <a:avLst>
              <a:gd name="adj" fmla="val 7042"/>
            </a:avLst>
          </a:prstGeom>
          <a:solidFill>
            <a:srgbClr val="120A20"/>
          </a:solidFill>
        </p:spPr>
      </p:sp>
      <p:sp>
        <p:nvSpPr>
          <p:cNvPr id="46" name="Shape 44"/>
          <p:cNvSpPr/>
          <p:nvPr/>
        </p:nvSpPr>
        <p:spPr>
          <a:xfrm>
            <a:off x="5431536" y="3154680"/>
            <a:ext cx="1572768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7" name="Shape 45"/>
          <p:cNvSpPr/>
          <p:nvPr/>
        </p:nvSpPr>
        <p:spPr>
          <a:xfrm>
            <a:off x="6016752" y="3218688"/>
            <a:ext cx="402336" cy="40233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8" name="Text 46"/>
          <p:cNvSpPr/>
          <p:nvPr/>
        </p:nvSpPr>
        <p:spPr>
          <a:xfrm>
            <a:off x="6016752" y="3227832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0" y="3675888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</a:rPr>
              <a:t>getByTestId()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86400" y="41148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data-testid attr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013448" y="3584448"/>
            <a:ext cx="411480" cy="256032"/>
          </a:xfrm>
          <a:prstGeom prst="rightArrow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50608" y="3154680"/>
            <a:ext cx="1572768" cy="1298448"/>
          </a:xfrm>
          <a:prstGeom prst="roundRect">
            <a:avLst>
              <a:gd name="adj" fmla="val 7042"/>
            </a:avLst>
          </a:prstGeom>
          <a:solidFill>
            <a:srgbClr val="141414"/>
          </a:solidFill>
        </p:spPr>
      </p:sp>
      <p:sp>
        <p:nvSpPr>
          <p:cNvPr id="53" name="Shape 51"/>
          <p:cNvSpPr/>
          <p:nvPr/>
        </p:nvSpPr>
        <p:spPr>
          <a:xfrm>
            <a:off x="7150608" y="3154680"/>
            <a:ext cx="1572768" cy="4572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54" name="Shape 52"/>
          <p:cNvSpPr/>
          <p:nvPr/>
        </p:nvSpPr>
        <p:spPr>
          <a:xfrm>
            <a:off x="7735824" y="3218688"/>
            <a:ext cx="402336" cy="402336"/>
          </a:xfrm>
          <a:prstGeom prst="ellipse">
            <a:avLst/>
          </a:prstGeom>
          <a:solidFill>
            <a:srgbClr val="94A3B8"/>
          </a:solidFill>
        </p:spPr>
      </p:sp>
      <p:sp>
        <p:nvSpPr>
          <p:cNvPr id="55" name="Text 53"/>
          <p:cNvSpPr/>
          <p:nvPr/>
        </p:nvSpPr>
        <p:spPr>
          <a:xfrm>
            <a:off x="7735824" y="3227832"/>
            <a:ext cx="402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205472" y="3675888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locator('css')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205472" y="41148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Last resort only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74320" y="4617720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10082A"/>
          </a:solidFill>
        </p:spPr>
      </p:sp>
      <p:sp>
        <p:nvSpPr>
          <p:cNvPr id="59" name="Shape 57"/>
          <p:cNvSpPr/>
          <p:nvPr/>
        </p:nvSpPr>
        <p:spPr>
          <a:xfrm>
            <a:off x="274320" y="4617720"/>
            <a:ext cx="8595360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60" name="Text 58"/>
          <p:cNvSpPr/>
          <p:nvPr/>
        </p:nvSpPr>
        <p:spPr>
          <a:xfrm>
            <a:off x="384048" y="4663440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🔌  Playwright MCP — Claude Code controls a real browser during development, inspects live DOM, builds locator strategies from actual elements — not guesses.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Page Object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All UI interactions hidden in page classes. Tests call methods, never touch selectors directly.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389120" cy="3840480"/>
          </a:xfrm>
          <a:prstGeom prst="roundRect">
            <a:avLst>
              <a:gd name="adj" fmla="val 3333"/>
            </a:avLst>
          </a:prstGeom>
          <a:solidFill>
            <a:srgbClr val="E2E8F0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imgs2/pom_cla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69848"/>
            <a:ext cx="429768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0058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</a:rPr>
              <a:t>7 PAGE CLASSES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83480" y="1353312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83480" y="1353312"/>
            <a:ext cx="54864" cy="420624"/>
          </a:xfrm>
          <a:prstGeom prst="rect">
            <a:avLst/>
          </a:prstGeom>
          <a:solidFill>
            <a:srgbClr val="FF4757"/>
          </a:solidFill>
        </p:spPr>
      </p:sp>
      <p:sp>
        <p:nvSpPr>
          <p:cNvPr id="10" name="Text 7"/>
          <p:cNvSpPr/>
          <p:nvPr/>
        </p:nvSpPr>
        <p:spPr>
          <a:xfrm>
            <a:off x="5102352" y="1389888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LoginPage.ts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102352" y="1581912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navigate() · login() · assertRedirectedTo()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983480" y="1847088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83480" y="1847088"/>
            <a:ext cx="54864" cy="42062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4" name="Text 11"/>
          <p:cNvSpPr/>
          <p:nvPr/>
        </p:nvSpPr>
        <p:spPr>
          <a:xfrm>
            <a:off x="5102352" y="1883664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EventListingPage.ts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102352" y="2075688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navigate() · clickFirstEventCard() · assertPageLoaded()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983480" y="2340864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983480" y="2340864"/>
            <a:ext cx="54864" cy="42062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8" name="Text 15"/>
          <p:cNvSpPr/>
          <p:nvPr/>
        </p:nvSpPr>
        <p:spPr>
          <a:xfrm>
            <a:off x="5102352" y="2377440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EventDetailPage.ts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102352" y="2569464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assertAllFieldsPresent() · assertPriceVisible()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983480" y="2834640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983480" y="2834640"/>
            <a:ext cx="54864" cy="42062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2" name="Text 19"/>
          <p:cNvSpPr/>
          <p:nvPr/>
        </p:nvSpPr>
        <p:spPr>
          <a:xfrm>
            <a:off x="5102352" y="2871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EventBookingPage.ts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102352" y="3063240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fillBookingForm() · book() · assertBookingConfirmed()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983480" y="3328416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983480" y="3328416"/>
            <a:ext cx="54864" cy="42062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6" name="Text 23"/>
          <p:cNvSpPr/>
          <p:nvPr/>
        </p:nvSpPr>
        <p:spPr>
          <a:xfrm>
            <a:off x="5102352" y="3364992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AdminManageEventsPage.ts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102352" y="3557016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createEvent() · deleteEvent() · assertEventRowVisible()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983480" y="3822192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983480" y="3822192"/>
            <a:ext cx="54864" cy="420624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30" name="Text 27"/>
          <p:cNvSpPr/>
          <p:nvPr/>
        </p:nvSpPr>
        <p:spPr>
          <a:xfrm>
            <a:off x="5102352" y="3858768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AdminManageBookingsPage.ts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102352" y="4050792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filterByStatus() · cancelFirstBooking()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4983480" y="4315968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983480" y="4315968"/>
            <a:ext cx="54864" cy="42062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4" name="Text 31"/>
          <p:cNvSpPr/>
          <p:nvPr/>
        </p:nvSpPr>
        <p:spPr>
          <a:xfrm>
            <a:off x="5102352" y="4352544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MyBookingsPage.ts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102352" y="4544568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cancelFirstBooking() · assertBookingVisible()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4983480" y="4663440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7C3AED">
              <a:alpha val="12000"/>
            </a:srgbClr>
          </a:solidFill>
        </p:spPr>
      </p:sp>
      <p:sp>
        <p:nvSpPr>
          <p:cNvPr id="37" name="Text 34"/>
          <p:cNvSpPr/>
          <p:nvPr/>
        </p:nvSpPr>
        <p:spPr>
          <a:xfrm>
            <a:off x="5029200" y="468172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Rule: Tests NEVER touch raw locators — POM methods only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How to Add New Test Cases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Two workflows using prompt-library/prompts.md — any team member can add tests in minutes.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14800" cy="39319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41148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7" name="Text 5"/>
          <p:cNvSpPr/>
          <p:nvPr/>
        </p:nvSpPr>
        <p:spPr>
          <a:xfrm>
            <a:off x="411480" y="11155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59E0B"/>
                </a:solidFill>
              </a:rPr>
              <a:t>WORKFLOW 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Add by TC Number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1792224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Know the TC ID? One line gets it done.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240280"/>
            <a:ext cx="274320" cy="2743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411480" y="2249424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Type in Claude 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40487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Copy prompt from prompts.md, replace TC-XXX with TC-056</a:t>
            </a:r>
            <a:endParaRPr lang="en-US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752344"/>
            <a:ext cx="274320" cy="2743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411480" y="276148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70662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Claude reads Excel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2916936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Finds TC-056 → reads Module, Steps, InputData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3264408"/>
            <a:ext cx="274320" cy="2743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9" name="Text 17"/>
          <p:cNvSpPr/>
          <p:nvPr/>
        </p:nvSpPr>
        <p:spPr>
          <a:xfrm>
            <a:off x="411480" y="327355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21868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Writes test script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429000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Correct file · POM methods · TC# in name · tag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3776472"/>
            <a:ext cx="274320" cy="2743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411480" y="3785616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730752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Verifies it passes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3941064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npx tsc --noEmit + playwright test --grep TC-056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4288536"/>
            <a:ext cx="274320" cy="27432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411480" y="429768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242816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Done 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445312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Test is live in the framework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1024128"/>
            <a:ext cx="4114800" cy="39319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1024128"/>
            <a:ext cx="4114800" cy="64008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2" name="Text 30"/>
          <p:cNvSpPr/>
          <p:nvPr/>
        </p:nvSpPr>
        <p:spPr>
          <a:xfrm>
            <a:off x="4892040" y="11155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6B6D4"/>
                </a:solidFill>
              </a:rPr>
              <a:t>WORKFLOW 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92040" y="138988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Add by Module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892040" y="1792224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Want all cases for a module? One prompt.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2240280"/>
            <a:ext cx="274320" cy="274320"/>
          </a:xfrm>
          <a:prstGeom prst="ellipse">
            <a:avLst/>
          </a:prstGeom>
          <a:solidFill>
            <a:srgbClr val="06B6D4"/>
          </a:solidFill>
        </p:spPr>
      </p:sp>
      <p:sp>
        <p:nvSpPr>
          <p:cNvPr id="36" name="Text 34"/>
          <p:cNvSpPr/>
          <p:nvPr/>
        </p:nvSpPr>
        <p:spPr>
          <a:xfrm>
            <a:off x="4892040" y="2249424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57800" y="2194560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Type in Claude Code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57800" y="240487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850" dirty="0">
                <a:solidFill>
                  <a:srgbClr val="64748B"/>
                </a:solidFill>
              </a:rPr>
              <a:t>Copy prompt from prompts.md, specify module name</a:t>
            </a:r>
            <a:endParaRPr lang="en-US" sz="850" dirty="0">
              <a:solidFill>
                <a:srgbClr val="64748B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892040" y="2752344"/>
            <a:ext cx="274320" cy="274320"/>
          </a:xfrm>
          <a:prstGeom prst="ellipse">
            <a:avLst/>
          </a:prstGeom>
          <a:solidFill>
            <a:srgbClr val="06B6D4"/>
          </a:solidFill>
        </p:spPr>
      </p:sp>
      <p:sp>
        <p:nvSpPr>
          <p:cNvPr id="40" name="Text 38"/>
          <p:cNvSpPr/>
          <p:nvPr/>
        </p:nvSpPr>
        <p:spPr>
          <a:xfrm>
            <a:off x="4892040" y="276148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57800" y="270662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Claude filters Excel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57800" y="2916936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All Enabled:TRUE rows for that module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92040" y="3264408"/>
            <a:ext cx="274320" cy="274320"/>
          </a:xfrm>
          <a:prstGeom prst="ellipse">
            <a:avLst/>
          </a:prstGeom>
          <a:solidFill>
            <a:srgbClr val="06B6D4"/>
          </a:solidFill>
        </p:spPr>
      </p:sp>
      <p:sp>
        <p:nvSpPr>
          <p:cNvPr id="44" name="Text 42"/>
          <p:cNvSpPr/>
          <p:nvPr/>
        </p:nvSpPr>
        <p:spPr>
          <a:xfrm>
            <a:off x="4892040" y="327355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57800" y="321868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Writes all tests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57800" y="3429000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TC numbers, tags, AAA, POM — all correct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92040" y="3776472"/>
            <a:ext cx="274320" cy="274320"/>
          </a:xfrm>
          <a:prstGeom prst="ellipse">
            <a:avLst/>
          </a:prstGeom>
          <a:solidFill>
            <a:srgbClr val="06B6D4"/>
          </a:solidFill>
        </p:spPr>
      </p:sp>
      <p:sp>
        <p:nvSpPr>
          <p:cNvPr id="48" name="Text 46"/>
          <p:cNvSpPr/>
          <p:nvPr/>
        </p:nvSpPr>
        <p:spPr>
          <a:xfrm>
            <a:off x="4892040" y="3785616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57800" y="3730752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Verifies full file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57800" y="3941064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Every new test passes before finishing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92040" y="4288536"/>
            <a:ext cx="274320" cy="274320"/>
          </a:xfrm>
          <a:prstGeom prst="ellipse">
            <a:avLst/>
          </a:prstGeom>
          <a:solidFill>
            <a:srgbClr val="06B6D4"/>
          </a:solidFill>
        </p:spPr>
      </p:sp>
      <p:sp>
        <p:nvSpPr>
          <p:cNvPr id="52" name="Text 50"/>
          <p:cNvSpPr/>
          <p:nvPr/>
        </p:nvSpPr>
        <p:spPr>
          <a:xfrm>
            <a:off x="4892040" y="429768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57800" y="4242816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Done ✓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57800" y="445312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Entire module covered in one session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21053"/>
            </a:avLst>
          </a:prstGeom>
          <a:solidFill>
            <a:srgbClr val="F59E0B">
              <a:alpha val="12000"/>
            </a:srgbClr>
          </a:solidFill>
        </p:spPr>
      </p:sp>
      <p:sp>
        <p:nvSpPr>
          <p:cNvPr id="56" name="Text 54"/>
          <p:cNvSpPr/>
          <p:nvPr/>
        </p:nvSpPr>
        <p:spPr>
          <a:xfrm>
            <a:off x="365760" y="4690872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📁  Both workflows use prompt-library/prompts.md  ·  No onboarding needed  ·  Any team member can contribute from day one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AI-Assisted Development + Playwright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Claude Code reads AGENT.md + SKILL.md at session start — it knows your framework before you type a word.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804672"/>
          </a:xfrm>
          <a:prstGeom prst="roundRect">
            <a:avLst>
              <a:gd name="adj" fmla="val 13636"/>
            </a:avLst>
          </a:prstGeom>
          <a:solidFill>
            <a:srgbClr val="100820"/>
          </a:solidFill>
        </p:spPr>
      </p:sp>
      <p:sp>
        <p:nvSpPr>
          <p:cNvPr id="6" name="Shape 4"/>
          <p:cNvSpPr/>
          <p:nvPr/>
        </p:nvSpPr>
        <p:spPr>
          <a:xfrm>
            <a:off x="274320" y="1005840"/>
            <a:ext cx="859536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7" name="Text 5"/>
          <p:cNvSpPr/>
          <p:nvPr/>
        </p:nvSpPr>
        <p:spPr>
          <a:xfrm>
            <a:off x="438912" y="10789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🔌  What is Playwright MCP?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371600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Model Context Protocol lets Claude Code control a real browser. During development, it navigates to EventHub, clicks elements, reads the actual DOM, and writes locator strategies based on what really exists — not guesses. Configured in .mcp/config.json.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2715768" cy="2999232"/>
          </a:xfrm>
          <a:prstGeom prst="roundRect">
            <a:avLst>
              <a:gd name="adj" fmla="val 4714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38528"/>
            <a:ext cx="2715768" cy="64008"/>
          </a:xfrm>
          <a:prstGeom prst="roundRect">
            <a:avLst>
              <a:gd name="adj" fmla="val 100000"/>
            </a:avLst>
          </a:prstGeom>
          <a:solidFill>
            <a:srgbClr val="7C3AED"/>
          </a:solidFill>
        </p:spPr>
      </p:sp>
      <p:sp>
        <p:nvSpPr>
          <p:cNvPr id="11" name="Text 9"/>
          <p:cNvSpPr/>
          <p:nvPr/>
        </p:nvSpPr>
        <p:spPr>
          <a:xfrm>
            <a:off x="274320" y="2011680"/>
            <a:ext cx="2715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25328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</a:rPr>
              <a:t>AGENT.md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2852928"/>
            <a:ext cx="253288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Full project briefing — Claude reads this before every session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3273552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Project structure &amp; folder map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" y="3538728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App URL + credentials (from .env)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2336" y="3803904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TC number &amp; tagging conventions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2336" y="4069080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What Claude may do autonomously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4334256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What requires human approval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4599432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Output checklist before finishing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72968" y="1938528"/>
            <a:ext cx="2715768" cy="2999232"/>
          </a:xfrm>
          <a:prstGeom prst="roundRect">
            <a:avLst>
              <a:gd name="adj" fmla="val 4714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1938528"/>
            <a:ext cx="2715768" cy="64008"/>
          </a:xfrm>
          <a:prstGeom prst="roundRect">
            <a:avLst>
              <a:gd name="adj" fmla="val 100000"/>
            </a:avLst>
          </a:prstGeom>
          <a:solidFill>
            <a:srgbClr val="06B6D4"/>
          </a:solidFill>
        </p:spPr>
      </p:sp>
      <p:sp>
        <p:nvSpPr>
          <p:cNvPr id="22" name="Text 20"/>
          <p:cNvSpPr/>
          <p:nvPr/>
        </p:nvSpPr>
        <p:spPr>
          <a:xfrm>
            <a:off x="3172968" y="2011680"/>
            <a:ext cx="2715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264408" y="2514600"/>
            <a:ext cx="25328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</a:rPr>
              <a:t>SKILL.md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64408" y="2852928"/>
            <a:ext cx="253288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Code generation rulebook — ensures consistent output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00984" y="3273552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Selector priority order (strict)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00984" y="3538728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POM-only — no raw locators in tests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00984" y="3803904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SelfHealingLocator in page classes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00984" y="4069080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File location rules per module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00984" y="4334256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AAA structure requirement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00984" y="4599432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Worked example with real output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71616" y="1938528"/>
            <a:ext cx="2715768" cy="2999232"/>
          </a:xfrm>
          <a:prstGeom prst="roundRect">
            <a:avLst>
              <a:gd name="adj" fmla="val 4714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71616" y="1938528"/>
            <a:ext cx="2715768" cy="64008"/>
          </a:xfrm>
          <a:prstGeom prst="roundRect">
            <a:avLst>
              <a:gd name="adj" fmla="val 100000"/>
            </a:avLst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6071616" y="2011680"/>
            <a:ext cx="2715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63056" y="2514600"/>
            <a:ext cx="25328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prompts.md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163056" y="2852928"/>
            <a:ext cx="253288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Team task library — day-to-day operations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99632" y="3273552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Add test by TC number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99632" y="3538728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Add tests for entire module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99632" y="3803904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Fix a failing test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99632" y="4069080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Add new page class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99632" y="4334256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Run specific suite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199632" y="4599432"/>
            <a:ext cx="245973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▸ </a:t>
            </a:r>
            <a:r>
              <a:rPr lang="en-US" sz="850" dirty="0">
                <a:solidFill>
                  <a:srgbClr val="E2E8F0"/>
                </a:solidFill>
              </a:rPr>
              <a:t>Regenerate API types &amp; docs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21053"/>
            </a:avLst>
          </a:prstGeom>
          <a:solidFill>
            <a:srgbClr val="0D0618"/>
          </a:solidFill>
        </p:spPr>
      </p:sp>
      <p:sp>
        <p:nvSpPr>
          <p:cNvPr id="43" name="Text 41"/>
          <p:cNvSpPr/>
          <p:nvPr/>
        </p:nvSpPr>
        <p:spPr>
          <a:xfrm>
            <a:off x="365760" y="4690872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</a:rPr>
              <a:t>💬  "Read prompt-library/prompts.md and execute section Add test by TC number"  →  Complete test written, verified, committed.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Data-Driven Excel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One source of truth — QA adds a row to Excel, framework generates the test. Zero code change needed.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97680" cy="3840480"/>
          </a:xfrm>
          <a:prstGeom prst="roundRect">
            <a:avLst>
              <a:gd name="adj" fmla="val 3333"/>
            </a:avLst>
          </a:prstGeom>
          <a:solidFill>
            <a:srgbClr val="E2E8F0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imgs2/excel_sum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69848"/>
            <a:ext cx="4206240" cy="1828800"/>
          </a:xfrm>
          <a:prstGeom prst="rect">
            <a:avLst/>
          </a:prstGeom>
        </p:spPr>
      </p:pic>
      <p:pic>
        <p:nvPicPr>
          <p:cNvPr id="7" name="Image 1" descr="/home/claude/imgs2/excel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944368"/>
            <a:ext cx="4206240" cy="9875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46320" y="100584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</a:rPr>
              <a:t>EXCEL COLUMN SCHEMA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846320" y="1325880"/>
            <a:ext cx="126187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846320" y="1325880"/>
            <a:ext cx="1261872" cy="45720"/>
          </a:xfrm>
          <a:prstGeom prst="rect">
            <a:avLst/>
          </a:prstGeom>
          <a:solidFill>
            <a:srgbClr val="FF4757"/>
          </a:solidFill>
        </p:spPr>
      </p:sp>
      <p:sp>
        <p:nvSpPr>
          <p:cNvPr id="11" name="Text 7"/>
          <p:cNvSpPr/>
          <p:nvPr/>
        </p:nvSpPr>
        <p:spPr>
          <a:xfrm>
            <a:off x="4901184" y="1389888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757"/>
                </a:solidFill>
              </a:rPr>
              <a:t>TestID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901184" y="1572768"/>
            <a:ext cx="115214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e.g. TC-001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6217920" y="1325880"/>
            <a:ext cx="126187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325880"/>
            <a:ext cx="1261872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5" name="Text 11"/>
          <p:cNvSpPr/>
          <p:nvPr/>
        </p:nvSpPr>
        <p:spPr>
          <a:xfrm>
            <a:off x="6272784" y="1389888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Module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272784" y="1572768"/>
            <a:ext cx="115214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e.g. Login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7589520" y="1325880"/>
            <a:ext cx="126187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589520" y="1325880"/>
            <a:ext cx="1261872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" name="Text 15"/>
          <p:cNvSpPr/>
          <p:nvPr/>
        </p:nvSpPr>
        <p:spPr>
          <a:xfrm>
            <a:off x="7644384" y="1389888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Priority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7644384" y="1572768"/>
            <a:ext cx="115214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e.g. High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846320" y="1892808"/>
            <a:ext cx="126187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846320" y="1892808"/>
            <a:ext cx="1261872" cy="4572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3" name="Text 19"/>
          <p:cNvSpPr/>
          <p:nvPr/>
        </p:nvSpPr>
        <p:spPr>
          <a:xfrm>
            <a:off x="4901184" y="1956816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B6D4"/>
                </a:solidFill>
              </a:rPr>
              <a:t>InputData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901184" y="2139696"/>
            <a:ext cx="115214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e.g. {email,pw}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6217920" y="1892808"/>
            <a:ext cx="126187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217920" y="1892808"/>
            <a:ext cx="126187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7" name="Text 23"/>
          <p:cNvSpPr/>
          <p:nvPr/>
        </p:nvSpPr>
        <p:spPr>
          <a:xfrm>
            <a:off x="6272784" y="1956816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Enabled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6272784" y="2139696"/>
            <a:ext cx="115214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e.g. TRUE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4846320" y="257860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0000"/>
                </a:solidFill>
              </a:rPr>
              <a:t>PIPELINE FLOW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846320" y="2907792"/>
            <a:ext cx="868680" cy="10058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846320" y="2907792"/>
            <a:ext cx="86868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2" name="Text 28"/>
          <p:cNvSpPr/>
          <p:nvPr/>
        </p:nvSpPr>
        <p:spPr>
          <a:xfrm>
            <a:off x="4846320" y="2962656"/>
            <a:ext cx="868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4882896" y="3364992"/>
            <a:ext cx="795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Excel row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added by QA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5724144" y="3273552"/>
            <a:ext cx="411480" cy="256032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852160" y="2907792"/>
            <a:ext cx="868680" cy="10058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852160" y="2907792"/>
            <a:ext cx="868680" cy="4572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37" name="Text 33"/>
          <p:cNvSpPr/>
          <p:nvPr/>
        </p:nvSpPr>
        <p:spPr>
          <a:xfrm>
            <a:off x="5852160" y="2962656"/>
            <a:ext cx="868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38" name="Text 34"/>
          <p:cNvSpPr/>
          <p:nvPr/>
        </p:nvSpPr>
        <p:spPr>
          <a:xfrm>
            <a:off x="5888736" y="3364992"/>
            <a:ext cx="795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Zod parse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&amp; validate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6729984" y="3273552"/>
            <a:ext cx="411480" cy="256032"/>
          </a:xfrm>
          <a:prstGeom prst="rightArrow">
            <a:avLst/>
          </a:prstGeom>
          <a:solidFill>
            <a:srgbClr val="F43F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858000" y="2907792"/>
            <a:ext cx="868680" cy="10058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858000" y="2907792"/>
            <a:ext cx="868680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2" name="Text 38"/>
          <p:cNvSpPr/>
          <p:nvPr/>
        </p:nvSpPr>
        <p:spPr>
          <a:xfrm>
            <a:off x="6858000" y="2962656"/>
            <a:ext cx="868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43" name="Text 39"/>
          <p:cNvSpPr/>
          <p:nvPr/>
        </p:nvSpPr>
        <p:spPr>
          <a:xfrm>
            <a:off x="6894576" y="3364992"/>
            <a:ext cx="795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Test script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generated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7735824" y="3273552"/>
            <a:ext cx="411480" cy="256032"/>
          </a:xfrm>
          <a:prstGeom prst="rightArrow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863840" y="2907792"/>
            <a:ext cx="868680" cy="10058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7863840" y="2907792"/>
            <a:ext cx="86868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7" name="Text 43"/>
          <p:cNvSpPr/>
          <p:nvPr/>
        </p:nvSpPr>
        <p:spPr>
          <a:xfrm>
            <a:off x="7863840" y="2962656"/>
            <a:ext cx="868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48" name="Text 44"/>
          <p:cNvSpPr/>
          <p:nvPr/>
        </p:nvSpPr>
        <p:spPr>
          <a:xfrm>
            <a:off x="7900416" y="3364992"/>
            <a:ext cx="795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CI green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automatically</a:t>
            </a:r>
            <a:endParaRPr lang="en-US" sz="750" dirty="0"/>
          </a:p>
        </p:txBody>
      </p:sp>
      <p:sp>
        <p:nvSpPr>
          <p:cNvPr id="49" name="Shape 45"/>
          <p:cNvSpPr/>
          <p:nvPr/>
        </p:nvSpPr>
        <p:spPr>
          <a:xfrm>
            <a:off x="4846320" y="4041648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F59E0B">
              <a:alpha val="8000"/>
            </a:srgbClr>
          </a:solidFill>
        </p:spPr>
      </p:sp>
      <p:sp>
        <p:nvSpPr>
          <p:cNvPr id="50" name="Text 46"/>
          <p:cNvSpPr/>
          <p:nvPr/>
        </p:nvSpPr>
        <p:spPr>
          <a:xfrm>
            <a:off x="4937760" y="4114800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</a:rPr>
              <a:t>▸  Add row to Excel → test appears next CI run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4937760" y="4361688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</a:rPr>
              <a:t>▸  TC numbers in every test name → full traceability</a:t>
            </a:r>
            <a:endParaRPr lang="en-US" sz="950" dirty="0"/>
          </a:p>
        </p:txBody>
      </p:sp>
      <p:sp>
        <p:nvSpPr>
          <p:cNvPr id="52" name="Text 48"/>
          <p:cNvSpPr/>
          <p:nvPr/>
        </p:nvSpPr>
        <p:spPr>
          <a:xfrm>
            <a:off x="4937760" y="4608576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</a:rPr>
              <a:t>▸  Priority column drives @smoke / @regression tags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Test Coverage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100% Excel traceability — TC-001 to TC-070, every row maps to a spec line.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011680" cy="1417320"/>
          </a:xfrm>
          <a:prstGeom prst="roundRect">
            <a:avLst>
              <a:gd name="adj" fmla="val 9032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2011680" cy="64008"/>
          </a:xfrm>
          <a:prstGeom prst="roundRect">
            <a:avLst>
              <a:gd name="adj" fmla="val 100000"/>
            </a:avLst>
          </a:prstGeom>
          <a:solidFill>
            <a:srgbClr val="06B6D4"/>
          </a:solidFill>
        </p:spPr>
      </p:sp>
      <p:sp>
        <p:nvSpPr>
          <p:cNvPr id="7" name="Text 5"/>
          <p:cNvSpPr/>
          <p:nvPr/>
        </p:nvSpPr>
        <p:spPr>
          <a:xfrm>
            <a:off x="274320" y="1078992"/>
            <a:ext cx="2011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6B6D4"/>
                </a:solidFill>
              </a:rPr>
              <a:t>70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Total TCs in Excel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1024128"/>
            <a:ext cx="2011680" cy="1417320"/>
          </a:xfrm>
          <a:prstGeom prst="roundRect">
            <a:avLst>
              <a:gd name="adj" fmla="val 9032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024128"/>
            <a:ext cx="2011680" cy="64008"/>
          </a:xfrm>
          <a:prstGeom prst="roundRect">
            <a:avLst>
              <a:gd name="adj" fmla="val 100000"/>
            </a:avLst>
          </a:prstGeom>
          <a:solidFill>
            <a:srgbClr val="10B981"/>
          </a:solidFill>
        </p:spPr>
      </p:sp>
      <p:sp>
        <p:nvSpPr>
          <p:cNvPr id="11" name="Text 9"/>
          <p:cNvSpPr/>
          <p:nvPr/>
        </p:nvSpPr>
        <p:spPr>
          <a:xfrm>
            <a:off x="2450592" y="1078992"/>
            <a:ext cx="2011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0B981"/>
                </a:solidFill>
              </a:rPr>
              <a:t>65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450592" y="187452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Active &amp; Passing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1024128"/>
            <a:ext cx="2011680" cy="1417320"/>
          </a:xfrm>
          <a:prstGeom prst="roundRect">
            <a:avLst>
              <a:gd name="adj" fmla="val 9032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024128"/>
            <a:ext cx="2011680" cy="64008"/>
          </a:xfrm>
          <a:prstGeom prst="roundRect">
            <a:avLst>
              <a:gd name="adj" fmla="val 100000"/>
            </a:avLst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4626864" y="1078992"/>
            <a:ext cx="2011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9E0B"/>
                </a:solidFill>
              </a:rPr>
              <a:t>6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4626864" y="187452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Skipped (documented)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03136" y="1024128"/>
            <a:ext cx="2011680" cy="1417320"/>
          </a:xfrm>
          <a:prstGeom prst="roundRect">
            <a:avLst>
              <a:gd name="adj" fmla="val 9032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024128"/>
            <a:ext cx="2011680" cy="64008"/>
          </a:xfrm>
          <a:prstGeom prst="roundRect">
            <a:avLst>
              <a:gd name="adj" fmla="val 100000"/>
            </a:avLst>
          </a:prstGeom>
          <a:solidFill>
            <a:srgbClr val="FF4757"/>
          </a:solidFill>
        </p:spPr>
      </p:sp>
      <p:sp>
        <p:nvSpPr>
          <p:cNvPr id="19" name="Text 17"/>
          <p:cNvSpPr/>
          <p:nvPr/>
        </p:nvSpPr>
        <p:spPr>
          <a:xfrm>
            <a:off x="6803136" y="1078992"/>
            <a:ext cx="2011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4757"/>
                </a:solidFill>
              </a:rPr>
              <a:t>0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803136" y="187452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Failures in CI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2578608"/>
            <a:ext cx="8595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MODULE BREAKDOWN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274320" y="2852928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25880"/>
                <a:gridCol w="1051560"/>
                <a:gridCol w="2743200"/>
                <a:gridCol w="109728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Module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TC Range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Tests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Tags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Type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🔐 Login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TC-001–006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@smoke:1  @regression:5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UI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📋 Event Listing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TC-007–012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5+1skip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@smoke:1  @regression:4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UI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🎟 Event Detail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TC-013–018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@smoke:1  @regression:5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UI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✅ Event Booking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TC-019–024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@smoke:1  @regression:5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UI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📂 My Bookings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TC-025–030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4+2skip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@smoke:1  @regression:3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UI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⚙️ Admin Events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TC-031–038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@smoke:1  @regression:7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UI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🗂 Admin Bookings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TC-039–042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3+1skip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@smoke:1  @regression:2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UI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🔌 API (Auth/Events/Bookings)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TC-043–066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22+2skip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@smoke:3  @regression:19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API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🔄 E2E Cross-layer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TC-067–070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@smoke:1  @regression:3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E2E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GitHub Actions CI/CD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Tests run automatically every weekday at 7am IST — email + Slack on failure — zero human intervention.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97680" cy="2240280"/>
          </a:xfrm>
          <a:prstGeom prst="roundRect">
            <a:avLst>
              <a:gd name="adj" fmla="val 5714"/>
            </a:avLst>
          </a:prstGeom>
          <a:solidFill>
            <a:srgbClr val="E2E8F0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imgs2/ci_green_sum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69848"/>
            <a:ext cx="4206240" cy="2148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364992"/>
            <a:ext cx="4297680" cy="1508760"/>
          </a:xfrm>
          <a:prstGeom prst="roundRect">
            <a:avLst>
              <a:gd name="adj" fmla="val 8485"/>
            </a:avLst>
          </a:prstGeom>
          <a:solidFill>
            <a:srgbClr val="E2E8F0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imgs2/github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410712"/>
            <a:ext cx="4206240" cy="1417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00600" y="100584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TRIGGER STRATEGY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800600" y="1325880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800600" y="1325880"/>
            <a:ext cx="411480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8"/>
          <p:cNvSpPr/>
          <p:nvPr/>
        </p:nvSpPr>
        <p:spPr>
          <a:xfrm>
            <a:off x="4873752" y="147218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🕖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0680" y="1435608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Schedule — 7am IST Mon–Fri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40680" y="1746504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cron: '30 1 * * 1-5'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Runs full suite automatically, no human needed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00600" y="2624328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effectLst>
            <a:outerShdw blurRad="2032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00600" y="2624328"/>
            <a:ext cx="41148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7" name="Text 13"/>
          <p:cNvSpPr/>
          <p:nvPr/>
        </p:nvSpPr>
        <p:spPr>
          <a:xfrm>
            <a:off x="4873752" y="27706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🖱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5440680" y="2734056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Manual (workflow_dispatch)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40680" y="3044952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Button in GitHub Actions tab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Suite selector: all / smoke / regression / ui / api / e2e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800600" y="383108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</a:rPr>
              <a:t>EVERY RUN DOES THIS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800600" y="4094988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1  </a:t>
            </a:r>
            <a:r>
              <a:rPr lang="en-US" sz="950" dirty="0">
                <a:solidFill>
                  <a:srgbClr val="64748B"/>
                </a:solidFill>
              </a:rPr>
              <a:t>Fresh Ubuntu VM → checkout → npm ci (npm cache used)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800600" y="4278757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2  </a:t>
            </a:r>
            <a:r>
              <a:rPr lang="en-US" sz="950" dirty="0">
                <a:solidFill>
                  <a:srgbClr val="64748B"/>
                </a:solidFill>
              </a:rPr>
              <a:t>Install Chromium → global-setup.ts saves auth state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800600" y="4489196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3  </a:t>
            </a:r>
            <a:r>
              <a:rPr lang="en-US" sz="950" dirty="0">
                <a:solidFill>
                  <a:srgbClr val="64748B"/>
                </a:solidFill>
              </a:rPr>
              <a:t>65 tests run in parallel with 2 workers — ~3-4 min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800600" y="470027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4  </a:t>
            </a:r>
            <a:r>
              <a:rPr lang="en-US" sz="950" dirty="0">
                <a:solidFill>
                  <a:srgbClr val="64748B"/>
                </a:solidFill>
              </a:rPr>
              <a:t>HTML report + JSON results uploaded (30 day retention)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800600" y="4911344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5  </a:t>
            </a:r>
            <a:r>
              <a:rPr lang="en-US" sz="950" dirty="0">
                <a:solidFill>
                  <a:srgbClr val="64748B"/>
                </a:solidFill>
              </a:rPr>
              <a:t>Email on failure via GitHub 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Live CI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This is real output from GitHub Actions run #11 — not a mock, not a demo environment.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3291840"/>
          </a:xfrm>
          <a:prstGeom prst="roundRect">
            <a:avLst>
              <a:gd name="adj" fmla="val 4444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imgs2/html_report_det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69848"/>
            <a:ext cx="850392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480560"/>
            <a:ext cx="1627632" cy="530352"/>
          </a:xfrm>
          <a:prstGeom prst="roundRect">
            <a:avLst>
              <a:gd name="adj" fmla="val 24138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4480560"/>
            <a:ext cx="1627632" cy="64008"/>
          </a:xfrm>
          <a:prstGeom prst="roundRect">
            <a:avLst>
              <a:gd name="adj" fmla="val 100000"/>
            </a:avLst>
          </a:prstGeom>
          <a:solidFill>
            <a:srgbClr val="10B981"/>
          </a:solidFill>
        </p:spPr>
      </p:sp>
      <p:sp>
        <p:nvSpPr>
          <p:cNvPr id="9" name="Text 6"/>
          <p:cNvSpPr/>
          <p:nvPr/>
        </p:nvSpPr>
        <p:spPr>
          <a:xfrm>
            <a:off x="274320" y="4526280"/>
            <a:ext cx="16276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65 PASSED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993392" y="4480560"/>
            <a:ext cx="1627632" cy="530352"/>
          </a:xfrm>
          <a:prstGeom prst="roundRect">
            <a:avLst>
              <a:gd name="adj" fmla="val 24138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93392" y="4480560"/>
            <a:ext cx="1627632" cy="64008"/>
          </a:xfrm>
          <a:prstGeom prst="roundRect">
            <a:avLst>
              <a:gd name="adj" fmla="val 100000"/>
            </a:avLst>
          </a:prstGeom>
          <a:solidFill>
            <a:srgbClr val="F59E0B"/>
          </a:solidFill>
        </p:spPr>
      </p:sp>
      <p:sp>
        <p:nvSpPr>
          <p:cNvPr id="12" name="Text 9"/>
          <p:cNvSpPr/>
          <p:nvPr/>
        </p:nvSpPr>
        <p:spPr>
          <a:xfrm>
            <a:off x="1993392" y="4526280"/>
            <a:ext cx="16276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6 SKIPPED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12464" y="4480560"/>
            <a:ext cx="1627632" cy="530352"/>
          </a:xfrm>
          <a:prstGeom prst="roundRect">
            <a:avLst>
              <a:gd name="adj" fmla="val 24138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12464" y="4480560"/>
            <a:ext cx="1627632" cy="64008"/>
          </a:xfrm>
          <a:prstGeom prst="roundRect">
            <a:avLst>
              <a:gd name="adj" fmla="val 100000"/>
            </a:avLst>
          </a:prstGeom>
          <a:solidFill>
            <a:srgbClr val="FF4757"/>
          </a:solidFill>
        </p:spPr>
      </p:sp>
      <p:sp>
        <p:nvSpPr>
          <p:cNvPr id="15" name="Text 12"/>
          <p:cNvSpPr/>
          <p:nvPr/>
        </p:nvSpPr>
        <p:spPr>
          <a:xfrm>
            <a:off x="3712464" y="4526280"/>
            <a:ext cx="16276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757"/>
                </a:solidFill>
              </a:rPr>
              <a:t>0 FAILED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31536" y="4480560"/>
            <a:ext cx="1627632" cy="530352"/>
          </a:xfrm>
          <a:prstGeom prst="roundRect">
            <a:avLst>
              <a:gd name="adj" fmla="val 24138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31536" y="4480560"/>
            <a:ext cx="1627632" cy="64008"/>
          </a:xfrm>
          <a:prstGeom prst="roundRect">
            <a:avLst>
              <a:gd name="adj" fmla="val 100000"/>
            </a:avLst>
          </a:prstGeom>
          <a:solidFill>
            <a:srgbClr val="06B6D4"/>
          </a:solidFill>
        </p:spPr>
      </p:sp>
      <p:sp>
        <p:nvSpPr>
          <p:cNvPr id="18" name="Text 15"/>
          <p:cNvSpPr/>
          <p:nvPr/>
        </p:nvSpPr>
        <p:spPr>
          <a:xfrm>
            <a:off x="5431536" y="4526280"/>
            <a:ext cx="16276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3.1m RUNTIME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150608" y="4480560"/>
            <a:ext cx="1627632" cy="530352"/>
          </a:xfrm>
          <a:prstGeom prst="roundRect">
            <a:avLst>
              <a:gd name="adj" fmla="val 24138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150608" y="4480560"/>
            <a:ext cx="1627632" cy="64008"/>
          </a:xfrm>
          <a:prstGeom prst="roundRect">
            <a:avLst>
              <a:gd name="adj" fmla="val 100000"/>
            </a:avLst>
          </a:prstGeom>
          <a:solidFill>
            <a:srgbClr val="7C3AED"/>
          </a:solidFill>
        </p:spPr>
      </p:sp>
      <p:sp>
        <p:nvSpPr>
          <p:cNvPr id="21" name="Text 18"/>
          <p:cNvSpPr/>
          <p:nvPr/>
        </p:nvSpPr>
        <p:spPr>
          <a:xfrm>
            <a:off x="7150608" y="4526280"/>
            <a:ext cx="16276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11 CI RUNS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757"/>
          </a:solidFill>
        </p:spPr>
      </p:sp>
      <p:sp>
        <p:nvSpPr>
          <p:cNvPr id="3" name="Text 1"/>
          <p:cNvSpPr/>
          <p:nvPr/>
        </p:nvSpPr>
        <p:spPr>
          <a:xfrm>
            <a:off x="41148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Tech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Every tool is battle-tested and in active production use — nothing experimental.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01168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2011680" cy="54864"/>
          </a:xfrm>
          <a:prstGeom prst="rect">
            <a:avLst/>
          </a:prstGeom>
          <a:solidFill>
            <a:srgbClr val="45BA4B"/>
          </a:solidFill>
        </p:spPr>
      </p:sp>
      <p:sp>
        <p:nvSpPr>
          <p:cNvPr id="7" name="Text 5"/>
          <p:cNvSpPr/>
          <p:nvPr/>
        </p:nvSpPr>
        <p:spPr>
          <a:xfrm>
            <a:off x="274320" y="1207008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🎭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5BA4B"/>
                </a:solidFill>
              </a:rPr>
              <a:t>Playwright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048256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Browser automation · API testing · parallel execution · trace viewer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50592" y="1115568"/>
            <a:ext cx="201168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115568"/>
            <a:ext cx="201168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2" name="Text 10"/>
          <p:cNvSpPr/>
          <p:nvPr/>
        </p:nvSpPr>
        <p:spPr>
          <a:xfrm>
            <a:off x="2450592" y="1207008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🔷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42032" y="173736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B6D4"/>
                </a:solidFill>
              </a:rPr>
              <a:t>TypeScript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42032" y="2048256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Strict typing · compile-time errors · interfaces · auto-complete in IDE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26864" y="1115568"/>
            <a:ext cx="201168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115568"/>
            <a:ext cx="201168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7" name="Text 15"/>
          <p:cNvSpPr/>
          <p:nvPr/>
        </p:nvSpPr>
        <p:spPr>
          <a:xfrm>
            <a:off x="4626864" y="1207008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18304" y="173736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</a:rPr>
              <a:t>Claude Code + MCP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18304" y="2048256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AI coding assistant — navigates live browser, writes tests, fixes failures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803136" y="1115568"/>
            <a:ext cx="201168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115568"/>
            <a:ext cx="2011680" cy="54864"/>
          </a:xfrm>
          <a:prstGeom prst="rect">
            <a:avLst/>
          </a:prstGeom>
          <a:solidFill>
            <a:srgbClr val="F472B6"/>
          </a:solidFill>
        </p:spPr>
      </p:sp>
      <p:sp>
        <p:nvSpPr>
          <p:cNvPr id="22" name="Text 20"/>
          <p:cNvSpPr/>
          <p:nvPr/>
        </p:nvSpPr>
        <p:spPr>
          <a:xfrm>
            <a:off x="6803136" y="1207008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94576" y="173736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72B6"/>
                </a:solidFill>
              </a:rPr>
              <a:t>Zod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94576" y="2048256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Runtime schema validation — Excel rows and API responses validated at runtime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2852928"/>
            <a:ext cx="201168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852928"/>
            <a:ext cx="201168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274320" y="2944368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347472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</a:rPr>
              <a:t>Excel / XLSX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3785616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70 test cases across 9 module sheets — QA-maintained single source of truth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450592" y="2852928"/>
            <a:ext cx="201168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50592" y="2852928"/>
            <a:ext cx="2011680" cy="54864"/>
          </a:xfrm>
          <a:prstGeom prst="rect">
            <a:avLst/>
          </a:prstGeom>
          <a:solidFill>
            <a:srgbClr val="6366F1"/>
          </a:solidFill>
        </p:spPr>
      </p:sp>
      <p:sp>
        <p:nvSpPr>
          <p:cNvPr id="32" name="Text 30"/>
          <p:cNvSpPr/>
          <p:nvPr/>
        </p:nvSpPr>
        <p:spPr>
          <a:xfrm>
            <a:off x="2450592" y="2944368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2542032" y="347472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366F1"/>
                </a:solidFill>
              </a:rPr>
              <a:t>GitHub Actions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542032" y="3785616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Cloud CI — free, scheduled daily, artifact upload, 11 runs completed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626864" y="2852928"/>
            <a:ext cx="201168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26864" y="2852928"/>
            <a:ext cx="2011680" cy="54864"/>
          </a:xfrm>
          <a:prstGeom prst="rect">
            <a:avLst/>
          </a:prstGeom>
          <a:solidFill>
            <a:srgbClr val="85E89D"/>
          </a:solidFill>
        </p:spPr>
      </p:sp>
      <p:sp>
        <p:nvSpPr>
          <p:cNvPr id="37" name="Text 35"/>
          <p:cNvSpPr/>
          <p:nvPr/>
        </p:nvSpPr>
        <p:spPr>
          <a:xfrm>
            <a:off x="4626864" y="2944368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718304" y="347472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5E89D"/>
                </a:solidFill>
              </a:rPr>
              <a:t>Swagger / OpenAPI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18304" y="3785616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Auto-generated TypeScript types (Api.ts) from live EventHub spec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03136" y="2852928"/>
            <a:ext cx="201168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03136" y="2852928"/>
            <a:ext cx="2011680" cy="54864"/>
          </a:xfrm>
          <a:prstGeom prst="rect">
            <a:avLst/>
          </a:prstGeom>
          <a:solidFill>
            <a:srgbClr val="E01E5A"/>
          </a:solidFill>
        </p:spPr>
      </p:sp>
      <p:sp>
        <p:nvSpPr>
          <p:cNvPr id="42" name="Text 40"/>
          <p:cNvSpPr/>
          <p:nvPr/>
        </p:nvSpPr>
        <p:spPr>
          <a:xfrm>
            <a:off x="6803136" y="2944368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894576" y="347472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1E5A"/>
                </a:solidFill>
              </a:rPr>
              <a:t>GitHub Actions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94576" y="3785616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Automatic failure notifications — no per-user setup required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FF4757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7C3AED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757"/>
          </a:solidFill>
        </p:spPr>
      </p:sp>
      <p:sp>
        <p:nvSpPr>
          <p:cNvPr id="5" name="Text 3"/>
          <p:cNvSpPr/>
          <p:nvPr/>
        </p:nvSpPr>
        <p:spPr>
          <a:xfrm>
            <a:off x="457200" y="347472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EventHub Playwright Framework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4757"/>
                </a:solidFill>
              </a:rPr>
              <a:t>Production-grade  ·  AI-assisted  ·  Self-healing  ·  CI-verified  · 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2487168" cy="1234440"/>
          </a:xfrm>
          <a:prstGeom prst="roundRect">
            <a:avLst>
              <a:gd name="adj" fmla="val 10370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508760"/>
            <a:ext cx="2487168" cy="64008"/>
          </a:xfrm>
          <a:prstGeom prst="roundRect">
            <a:avLst>
              <a:gd name="adj" fmla="val 100000"/>
            </a:avLst>
          </a:prstGeom>
          <a:solidFill>
            <a:srgbClr val="06B6D4"/>
          </a:solidFill>
        </p:spPr>
      </p:sp>
      <p:sp>
        <p:nvSpPr>
          <p:cNvPr id="9" name="Text 7"/>
          <p:cNvSpPr/>
          <p:nvPr/>
        </p:nvSpPr>
        <p:spPr>
          <a:xfrm>
            <a:off x="502920" y="1600200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🎭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2304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Playwright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2487168" cy="1234440"/>
          </a:xfrm>
          <a:prstGeom prst="roundRect">
            <a:avLst>
              <a:gd name="adj" fmla="val 10370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508760"/>
            <a:ext cx="2487168" cy="64008"/>
          </a:xfrm>
          <a:prstGeom prst="roundRect">
            <a:avLst>
              <a:gd name="adj" fmla="val 100000"/>
            </a:avLst>
          </a:prstGeom>
          <a:solidFill>
            <a:srgbClr val="FF4757"/>
          </a:solidFill>
        </p:spPr>
      </p:sp>
      <p:sp>
        <p:nvSpPr>
          <p:cNvPr id="13" name="Text 11"/>
          <p:cNvSpPr/>
          <p:nvPr/>
        </p:nvSpPr>
        <p:spPr>
          <a:xfrm>
            <a:off x="3246120" y="1600200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37560" y="2103120"/>
            <a:ext cx="2304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757"/>
                </a:solidFill>
              </a:rPr>
              <a:t>Self-Healing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4757"/>
                </a:solidFill>
              </a:rPr>
              <a:t>Locators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508760"/>
            <a:ext cx="2487168" cy="1234440"/>
          </a:xfrm>
          <a:prstGeom prst="roundRect">
            <a:avLst>
              <a:gd name="adj" fmla="val 10370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508760"/>
            <a:ext cx="2487168" cy="64008"/>
          </a:xfrm>
          <a:prstGeom prst="roundRect">
            <a:avLst>
              <a:gd name="adj" fmla="val 100000"/>
            </a:avLst>
          </a:prstGeom>
          <a:solidFill>
            <a:srgbClr val="7C3AED"/>
          </a:solidFill>
        </p:spPr>
      </p:sp>
      <p:sp>
        <p:nvSpPr>
          <p:cNvPr id="17" name="Text 15"/>
          <p:cNvSpPr/>
          <p:nvPr/>
        </p:nvSpPr>
        <p:spPr>
          <a:xfrm>
            <a:off x="5989320" y="1600200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80760" y="2103120"/>
            <a:ext cx="2304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Page Object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Model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926080"/>
            <a:ext cx="2487168" cy="1234440"/>
          </a:xfrm>
          <a:prstGeom prst="roundRect">
            <a:avLst>
              <a:gd name="adj" fmla="val 10370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926080"/>
            <a:ext cx="2487168" cy="64008"/>
          </a:xfrm>
          <a:prstGeom prst="roundRect">
            <a:avLst>
              <a:gd name="adj" fmla="val 100000"/>
            </a:avLst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502920" y="3017520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94360" y="3520440"/>
            <a:ext cx="2304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Excel-Driven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Pipeline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926080"/>
            <a:ext cx="2487168" cy="1234440"/>
          </a:xfrm>
          <a:prstGeom prst="roundRect">
            <a:avLst>
              <a:gd name="adj" fmla="val 10370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926080"/>
            <a:ext cx="2487168" cy="64008"/>
          </a:xfrm>
          <a:prstGeom prst="roundRect">
            <a:avLst>
              <a:gd name="adj" fmla="val 100000"/>
            </a:avLst>
          </a:prstGeom>
          <a:solidFill>
            <a:srgbClr val="F43F5E"/>
          </a:solidFill>
        </p:spPr>
      </p:sp>
      <p:sp>
        <p:nvSpPr>
          <p:cNvPr id="25" name="Text 23"/>
          <p:cNvSpPr/>
          <p:nvPr/>
        </p:nvSpPr>
        <p:spPr>
          <a:xfrm>
            <a:off x="3246120" y="3017520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337560" y="3520440"/>
            <a:ext cx="2304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</a:rPr>
              <a:t>Claude 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</a:rPr>
              <a:t>+ MCP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89320" y="2926080"/>
            <a:ext cx="2487168" cy="1234440"/>
          </a:xfrm>
          <a:prstGeom prst="roundRect">
            <a:avLst>
              <a:gd name="adj" fmla="val 10370"/>
            </a:avLst>
          </a:prstGeom>
          <a:solidFill>
            <a:srgbClr val="161B27"/>
          </a:solidFill>
          <a:effectLst>
            <a:outerShdw blurRad="254000" dist="762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2926080"/>
            <a:ext cx="2487168" cy="64008"/>
          </a:xfrm>
          <a:prstGeom prst="roundRect">
            <a:avLst>
              <a:gd name="adj" fmla="val 100000"/>
            </a:avLst>
          </a:pr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5989320" y="3017520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080760" y="3520440"/>
            <a:ext cx="23042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GitHub Actions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CI/CD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Built by Ravi Tanna  |  github.com/ravitanna-jeavio/2.Playwright-Training  |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9089</Words>
  <Application>WPS Presentation</Application>
  <PresentationFormat>On-screen Show (16:9)</PresentationFormat>
  <Paragraphs>834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EventHub AI-Powered Playwright Test Automation Framework</dc:title>
  <dc:creator>Ravi Tanna</dc:creator>
  <dc:subject>PptxGenJS Presentation</dc:subject>
  <cp:lastModifiedBy>Ravi Tanna</cp:lastModifiedBy>
  <cp:revision>9</cp:revision>
  <dcterms:created xsi:type="dcterms:W3CDTF">2026-05-04T11:01:00Z</dcterms:created>
  <dcterms:modified xsi:type="dcterms:W3CDTF">2026-05-06T09:27:22Z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1D3089CFE60840BDA2374161C10353C6_12</vt:lpwstr>
  </property>
  <property fmtid="{D5CDD505-2E9C-101B-9397-08002B2CF9AE}" pid="3" name="KSOProductBuildVer">
    <vt:lpwstr>1033-12.1.0.25830</vt:lpwstr>
  </property>
</Properties>
</file>